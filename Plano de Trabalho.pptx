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96000" cx="18288000"/>
  <p:notesSz cx="6858000" cy="9144000"/>
  <p:embeddedFontLst>
    <p:embeddedFont>
      <p:font typeface="Inter Light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3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61B620-3B57-4DF0-AF5E-B5970770C80B}">
  <a:tblStyle styleId="{3061B620-3B57-4DF0-AF5E-B5970770C8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3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" name="Google Shape;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818a3f884f_0_142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818a3f884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81c91ee8d_0_58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e81c91ee8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f3d8f6a1e1_0_189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f3d8f6a1e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81c91ee8d_0_20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e81c91ee8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1c91ee8d_0_29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81c91ee8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1c91ee8d_0_40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1c91ee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81c91ee8d_0_49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81c91ee8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422c03429_0_0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422c034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422c03429_0_11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422c0342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0981f50ae_0_2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0981f50a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1c91ee8d_0_83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81c91ee8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81c91ee8d_0_74:notes"/>
          <p:cNvSpPr/>
          <p:nvPr>
            <p:ph idx="2" type="sldImg"/>
          </p:nvPr>
        </p:nvSpPr>
        <p:spPr>
          <a:xfrm>
            <a:off x="383964" y="685800"/>
            <a:ext cx="609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81c91ee8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_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829"/>
            <a:ext cx="170412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900" lIns="182900" spcFirstLastPara="1" rIns="182900" wrap="square" tIns="182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6967"/>
            <a:ext cx="17041200" cy="6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900" lIns="182900" spcFirstLastPara="1" rIns="182900" wrap="square" tIns="18290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34593"/>
            <a:ext cx="1097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900" lIns="182900" spcFirstLastPara="1" rIns="182900" wrap="square" tIns="18290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bg2 copy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262" y="-28837"/>
            <a:ext cx="18406531" cy="1035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Logo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50" y="3299225"/>
            <a:ext cx="7479725" cy="261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/>
        </p:nvSpPr>
        <p:spPr>
          <a:xfrm>
            <a:off x="1094825" y="6437300"/>
            <a:ext cx="16749600" cy="21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65266D"/>
              </a:buClr>
              <a:buSzPts val="4800"/>
              <a:buFont typeface="Tahoma"/>
              <a:buNone/>
            </a:pPr>
            <a:r>
              <a:rPr lang="en" sz="4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Caminhos para o Financiamento Climático em Maringá</a:t>
            </a:r>
            <a:endParaRPr sz="4100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1094825" y="8928675"/>
            <a:ext cx="97224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Tiago Cisalpino, Cid Blanco</a:t>
            </a:r>
            <a:endParaRPr sz="2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22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Belo Horizonte, 03 de junho de 2026</a:t>
            </a:r>
            <a:endParaRPr sz="22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1221925" y="8003550"/>
            <a:ext cx="108981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2200"/>
              <a:buFont typeface="Tahoma"/>
              <a:buNone/>
            </a:pPr>
            <a:r>
              <a:rPr lang="en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Diagnóstico, articulação institucional e plano de ação.</a:t>
            </a:r>
            <a:endParaRPr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3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1720523" y="1177550"/>
            <a:ext cx="61128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</a:rPr>
              <a:t>Objetivo Geral</a:t>
            </a:r>
            <a:endParaRPr b="1" sz="5600">
              <a:solidFill>
                <a:srgbClr val="0097A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1159900" y="2685225"/>
            <a:ext cx="7722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Inter"/>
                <a:ea typeface="Inter"/>
                <a:cs typeface="Inter"/>
                <a:sym typeface="Inter"/>
              </a:rPr>
              <a:t>Avaliar as condições habilitantes para o financiamento climático urbano em Maringá, identificando barreiras e oportunidades e definindo recomendações estratégias para ampliar a capacidade municipal de acessar, estruturar e implementar investimentos voltados à adaptação climática, resiliência urbana e desenvolvimento sustentável. </a:t>
            </a:r>
            <a:endParaRPr sz="3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8350" y="0"/>
            <a:ext cx="8219650" cy="10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/>
        </p:nvSpPr>
        <p:spPr>
          <a:xfrm>
            <a:off x="1099225" y="260375"/>
            <a:ext cx="75990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</a:rPr>
              <a:t>Metodologia de Referência</a:t>
            </a:r>
            <a:endParaRPr b="1" sz="5600">
              <a:solidFill>
                <a:srgbClr val="0097A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1" name="Google Shape;31;p5"/>
          <p:cNvGraphicFramePr/>
          <p:nvPr/>
        </p:nvGraphicFramePr>
        <p:xfrm>
          <a:off x="377000" y="246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{3061B620-3B57-4DF0-AF5E-B5970770C80B}</a:tableStyleId>
              </a:tblPr>
              <a:tblGrid>
                <a:gridCol w="2089275"/>
                <a:gridCol w="3168725"/>
                <a:gridCol w="3168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Metodologia CEPAL/CCFLA</a:t>
                      </a:r>
                      <a:endParaRPr b="1"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Nome para o projeto</a:t>
                      </a:r>
                      <a:endParaRPr b="1"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Pergunta Chave</a:t>
                      </a:r>
                      <a:endParaRPr b="1"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Inter"/>
                          <a:ea typeface="Inter"/>
                          <a:cs typeface="Inter"/>
                          <a:sym typeface="Inter"/>
                        </a:rPr>
                        <a:t>Climate Policy</a:t>
                      </a:r>
                      <a:endParaRPr sz="2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Planejamento e Política Climática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O município possui uma agenda climática estruturada, com metas, instrumentos e capacidade de implementação?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Inter"/>
                          <a:ea typeface="Inter"/>
                          <a:cs typeface="Inter"/>
                          <a:sym typeface="Inter"/>
                        </a:rPr>
                        <a:t>Budget and Finance</a:t>
                      </a:r>
                      <a:endParaRPr sz="2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Financiamento Climático e Capacidade Fiscal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O município possui capacidade financeira e institucional para acessar e mobilizar recursos para adaptação e resiliência?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Inter"/>
                          <a:ea typeface="Inter"/>
                          <a:cs typeface="Inter"/>
                          <a:sym typeface="Inter"/>
                        </a:rPr>
                        <a:t>Climate Data</a:t>
                      </a:r>
                      <a:endParaRPr sz="2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Dados, Conhecimento e Inteligência Climática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O município possui evidências e informações suficientes para planejar e monitorar os investimentos climáticos?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Inter"/>
                          <a:ea typeface="Inter"/>
                          <a:cs typeface="Inter"/>
                          <a:sym typeface="Inter"/>
                        </a:rPr>
                        <a:t>Vertical and Horizontal Coordination</a:t>
                      </a:r>
                      <a:endParaRPr sz="2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Governança, Participação e Articulação Institucional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Inter"/>
                          <a:ea typeface="Inter"/>
                          <a:cs typeface="Inter"/>
                          <a:sym typeface="Inter"/>
                        </a:rPr>
                        <a:t>O município possui mecanismos de governança capazes de articular atores, recursos e políticas para ação climática?</a:t>
                      </a:r>
                      <a:endParaRPr sz="1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9125" y="0"/>
            <a:ext cx="8761106" cy="1029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/>
          <p:nvPr/>
        </p:nvSpPr>
        <p:spPr>
          <a:xfrm>
            <a:off x="765255" y="273400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Etapa 1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619650" y="1207550"/>
            <a:ext cx="992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Estrutura metodológica e governança do projeto estabelecidas 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619650" y="1715450"/>
            <a:ext cx="8720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Adaptar a metodologia CCFLA/CEPAL ao contexto de Maringá, definir os procedimentos de execução e estruturar a governança do projeto.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1128075" y="3320800"/>
            <a:ext cx="6133200" cy="6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A1.1 Reunião de alinhamento institucional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 Reunião inicial com IPPLAM e CEPAL;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Definição dos fluxos de comunicação;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Pactuação de responsabilidades.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 A1.2 Adaptação metodológica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Revisão da ferramenta CCFLA/CEPAL;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Adequação ao contexto municipal;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Definição das evidências requeridas para cada dimensão.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 A1.3 Estruturação dos instrumentos de coleta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Roteiros de entrevistas;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Protocolos de registro;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Matriz de evidências;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 A1.4 Estruturação da governança do projeto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Calendário de reuniões;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Fluxo de validação;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Controle de versões.</a:t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8818325" y="3416125"/>
            <a:ext cx="54021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Produtos Associados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 1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 2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 Indicadores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Plano de trabalho aprovado;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Instrumentos de coleta concluídos.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" name="Google Shape;43;p6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5475" y="9087899"/>
            <a:ext cx="2773801" cy="10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/>
        </p:nvSpPr>
        <p:spPr>
          <a:xfrm>
            <a:off x="765255" y="273400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Etapa 2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765250" y="1207550"/>
            <a:ext cx="992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Ecossistema institucional e de financiamento climático de Maringá mapeado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19650" y="1715450"/>
            <a:ext cx="8720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Identificar os atores, instrumentos, iniciativas e evidências relevantes para avaliação das condições habilitantes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1128075" y="3320800"/>
            <a:ext cx="6133200" cy="54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A2.1 Mapeamento institucional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Identificação dos principais atores: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IPPLAM;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Secretarias Municipais;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COMDEMA;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Defesa Civil;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Universidades;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A2.2 Levantamento documental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Plano Diretor;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PPA;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LDO;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LOA;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A2.3 Estruturação da base de evidências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Sistematização dos resultados.</a:t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8818325" y="3416125"/>
            <a:ext cx="54021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Produtos Associados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 3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 Indicadores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Base Excel;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Relatório de Mapeamento de Atores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" name="Google Shape;54;p7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9025" y="9167349"/>
            <a:ext cx="2773801" cy="10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8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/>
        </p:nvSpPr>
        <p:spPr>
          <a:xfrm>
            <a:off x="765255" y="336950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Etapa 3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765250" y="1207550"/>
            <a:ext cx="992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Diagnóstico das condições habilitantes elaborado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619650" y="1715450"/>
            <a:ext cx="8720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Aplicar a metodologia CCFLA/CEPAL para avaliar as condições habilitantes de Maringá.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1000975" y="3177900"/>
            <a:ext cx="7118400" cy="6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A3.1 Aplicação da Categoria 1 – Política Climática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mitigação;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adaptação;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gestão de riscos;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monitoramento;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implementaçã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A3.2 Aplicação da Categoria 2 – Orçamento e Finanças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" sz="1900">
                <a:latin typeface="Inter"/>
                <a:ea typeface="Inter"/>
                <a:cs typeface="Inter"/>
                <a:sym typeface="Inter"/>
              </a:rPr>
              <a:t>eceitas; orçamento; financiamento;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PPPs; instrumentos inovadores.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A3.3 Aplicação da Categoria 3 – Dados Climáticos 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" sz="1900">
                <a:latin typeface="Inter"/>
                <a:ea typeface="Inter"/>
                <a:cs typeface="Inter"/>
                <a:sym typeface="Inter"/>
              </a:rPr>
              <a:t>nventários; indicadores; monitoramento;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produção de conhecimento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A3.4 Aplicação da Categoria 4 – Coordenação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coordenação institucional; participação social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A3.5 Entrevistas e consultas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Realização de entrevistas semiestruturadas com atores estratégicos. </a:t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8818325" y="3416125"/>
            <a:ext cx="54021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Produtos Associados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 4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 Indicadores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Relatório parcial;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Registros de entrevistas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8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3675" y="9135549"/>
            <a:ext cx="2773801" cy="10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765255" y="273400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Etapa 4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765250" y="1207550"/>
            <a:ext cx="992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Diagnóstico validado por atores estratégicos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619650" y="1715450"/>
            <a:ext cx="8720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Promover validação participativa e construção coletiva das recomendações.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1128075" y="3320800"/>
            <a:ext cx="6133200" cy="43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A4.1 Preparação da oficina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Convites;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Material de apoio;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Sistematização dos resultados preliminares.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A4.2 Realização da oficina multiatores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" sz="1900">
                <a:latin typeface="Inter"/>
                <a:ea typeface="Inter"/>
                <a:cs typeface="Inter"/>
                <a:sym typeface="Inter"/>
              </a:rPr>
              <a:t>overnança; planejamento climático;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Financiamento;  prioridades estratégicas.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A4.3 Sistematização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Relatoria;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Transcrição;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Consolidação das contribuições.</a:t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8818325" y="3432025"/>
            <a:ext cx="54021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Produtos Associados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 5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 Indicadores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Recomendações registradas;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Resultados validados.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" name="Google Shape;76;p9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5475" y="9119649"/>
            <a:ext cx="2773801" cy="10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 txBox="1"/>
          <p:nvPr/>
        </p:nvSpPr>
        <p:spPr>
          <a:xfrm>
            <a:off x="765255" y="364825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Etapa</a:t>
            </a: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5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765250" y="1207550"/>
            <a:ext cx="992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Roadmap de fortalecimento das condições habilitantes elaborado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619650" y="1715450"/>
            <a:ext cx="8720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Estruturar recomendações e ações prioritárias para ampliação da capacidade municipal de acessar financiamento climático.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1128075" y="3320800"/>
            <a:ext cx="6133200" cy="47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A5.1 Identificação das lacunas prioritárias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Convites;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Material de apoio;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Sistematização dos resultados preliminares.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A5.2 Priorização das recomendações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Governança; planejamento climático;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 Financiamento;  prioridades estratégicas.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A5.3 Elaboração do Roadmap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Relatoria;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Transcrição;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nter"/>
              <a:buChar char="●"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Consolidação das contribuições.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A5.4 Consolidação do Relatório Final</a:t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0"/>
          <p:cNvSpPr txBox="1"/>
          <p:nvPr/>
        </p:nvSpPr>
        <p:spPr>
          <a:xfrm>
            <a:off x="8818325" y="3432025"/>
            <a:ext cx="54021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Produtos Associados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Produto 6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  Indicadores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Relatório Final;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Matriz consolidada;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" sz="1800">
                <a:latin typeface="Inter"/>
                <a:ea typeface="Inter"/>
                <a:cs typeface="Inter"/>
                <a:sym typeface="Inter"/>
              </a:rPr>
              <a:t>Síntese Executiva.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10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150" y="9151449"/>
            <a:ext cx="2773801" cy="10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1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1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150" y="9151449"/>
            <a:ext cx="2773801" cy="10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1"/>
          <p:cNvPicPr preferRelativeResize="0"/>
          <p:nvPr/>
        </p:nvPicPr>
        <p:blipFill rotWithShape="1">
          <a:blip r:embed="rId5">
            <a:alphaModFix/>
          </a:blip>
          <a:srcRect b="38419" l="22305" r="23332" t="30948"/>
          <a:stretch/>
        </p:blipFill>
        <p:spPr>
          <a:xfrm>
            <a:off x="144175" y="2210975"/>
            <a:ext cx="16056274" cy="508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765255" y="364825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Cronograma de Produtos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2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2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150" y="9151449"/>
            <a:ext cx="2773801" cy="10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174" y="2194125"/>
            <a:ext cx="15696774" cy="545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/>
          <p:nvPr/>
        </p:nvSpPr>
        <p:spPr>
          <a:xfrm>
            <a:off x="765255" y="364825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Cronograma de Eventos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3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96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150" y="9151449"/>
            <a:ext cx="2773801" cy="10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576150" y="2291500"/>
            <a:ext cx="6957600" cy="58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● Instituto de Pesquisa e Planejamento Urbano de Maringá - IPPLAM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○ Equipe técnica de acompanhamento da consultoria.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● Prefeitura Municipal de Maringá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○ Secretaria de Obras Públicas - SEMOP;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Luiz Antonio Martins Filho - Engenheiro Civil;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○ Secretaria de Urbanismo e Habitação - SEURBH: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Matheus Barros - Secretário;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Pedro Henrique dos Santos - Diretor de Projetos Especiais;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Arthur Sato Gregório - Gerente de Projetos Especiais;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Marina Cappellazzo Miguel - Engenheira Civil;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Rafael de Bitencourt Cazaroli - Engenheiro Civil;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○ Procuradoria Geral - PROGE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Inter"/>
                <a:ea typeface="Inter"/>
                <a:cs typeface="Inter"/>
                <a:sym typeface="Inter"/>
              </a:rPr>
              <a:t>■ Rodolfo Vassoler da Silva - Procurador municipal;</a:t>
            </a:r>
            <a:endParaRPr sz="2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8576125" y="2291500"/>
            <a:ext cx="6957600" cy="57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Secretaria de Infraestrutura - SEINFRA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Nicolas Braun - Engenheiro Civil;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Secretaria de Limpeza Urbana - SELURB;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Rubia Irma Sales - Diretora de Arborização;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Secretaria de Governo - SEGOV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Jean Marques - procurador municipal e Superintendente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● Instituto Ambiental de Maringá - IAM (autarquia municipal)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José Roberto Francisco Behrend - Diretor-Presidente;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Ricardo Massulo Albertin - Diretor de Licenciamento e Controle Ambiental;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Ariane Cezarotto Fiewski - Diretora de Projetos e Obras Ambientais;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○ Ana Paula de Sene- Gerente de Saneamento e Ambientais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Maurício Bonesso Sampaio - Engenheiro Floresta;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Marcos Juliano da Silva Cruz - Engenheiro Sanitarista;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Renato Farinacio - Engenheiro Agrônomo;</a:t>
            </a:r>
            <a:endParaRPr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ter"/>
                <a:ea typeface="Inter"/>
                <a:cs typeface="Inter"/>
                <a:sym typeface="Inter"/>
              </a:rPr>
              <a:t>■ Natalia Carniatto - Bióloga.</a:t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765255" y="273400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 de Atores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title="bg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965" y="0"/>
            <a:ext cx="18303944" cy="10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title="logo_preto_1c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150" y="9151449"/>
            <a:ext cx="2773801" cy="10063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14"/>
          <p:cNvGraphicFramePr/>
          <p:nvPr/>
        </p:nvGraphicFramePr>
        <p:xfrm>
          <a:off x="946500" y="1340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{3061B620-3B57-4DF0-AF5E-B5970770C80B}</a:tableStyleId>
              </a:tblPr>
              <a:tblGrid>
                <a:gridCol w="3704325"/>
                <a:gridCol w="105893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Instituição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Justificativa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Secretaria Municipal de Fazenda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Fundamental para avaliar orçamento, PPA, LDO, LOA, capacidade fiscal, endividamento, contrapartidas, fundos, operações de crédito e instrumentos de financiamento climático. Grande parte do eixo "Orçamento e Finanças" da CEPAL depende dessa secretaria.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Secretaria de Planejamento e Orçamento</a:t>
                      </a:r>
                      <a:r>
                        <a:rPr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i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(caso exista estrutura separada da Fazenda)</a:t>
                      </a:r>
                      <a:endParaRPr i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Responsável pelo planejamento governamental, carteira de investimentos e integração entre planejamento e orçamento. Se essas funções estiverem no IPPLAM ou na Fazenda, pode ser dispensada.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Coordenadoria Municipal de Proteção e Defesa Civil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Essencial para responder às dimensões relacionadas à adaptação, riscos climáticos, eventos extremos, planos de contingência, vulnerabilidade e priorização territorial. É um dos principais atores da metodologia da CEPAL.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Secretaria de Mobilidade Urbana (SEMOB)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Importante para avaliar mitigação no transporte, PlanMob, transporte coletivo, mobilidade ativa, emissões e projetos financiáveis de mobilidade sustentável.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COMDEMA – Conselho Municipal de Defesa do Meio Ambiente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Complementa a avaliação da governança, participação social, funcionamento do FUNDEMA e mecanismos de deliberação.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Universidade Estadual de Maringá (UEM)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Parceira estratégica para validar estudos existentes sobre clima, drenagem, vulnerabilidade, biodiversidade, geoprocessamento e apoiar a identificação de dados científicos disponíveis.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" name="Google Shape;120;p14"/>
          <p:cNvSpPr txBox="1"/>
          <p:nvPr/>
        </p:nvSpPr>
        <p:spPr>
          <a:xfrm>
            <a:off x="765255" y="273400"/>
            <a:ext cx="99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266D"/>
              </a:buClr>
              <a:buSzPts val="3200"/>
              <a:buFont typeface="Tahoma"/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 de Atores complementares</a:t>
            </a:r>
            <a:endParaRPr b="1" i="0" sz="4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1815123" y="1363800"/>
            <a:ext cx="80820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</a:rPr>
              <a:t>Produtos</a:t>
            </a:r>
            <a:endParaRPr b="1" sz="4800">
              <a:solidFill>
                <a:srgbClr val="0097A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26" name="Google Shape;126;p15"/>
          <p:cNvGraphicFramePr/>
          <p:nvPr/>
        </p:nvGraphicFramePr>
        <p:xfrm>
          <a:off x="1942375" y="257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{3061B620-3B57-4DF0-AF5E-B5970770C80B}</a:tableStyleId>
              </a:tblPr>
              <a:tblGrid>
                <a:gridCol w="1958625"/>
                <a:gridCol w="120448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Nome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P1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 1 – Plano de Trabalho e Arranjo de Governança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P2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 2 – Ferramenta de Avaliação Adaptada ao Contexto de Maringá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P3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 3 – Mapeamento Institucional e Base de Evidências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P4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 4 – Avaliação das Condições Habilitantes e Diagnóstico Preliminar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P5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 5 – Processo Participativo e Validação Multiator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Inter"/>
                          <a:ea typeface="Inter"/>
                          <a:cs typeface="Inter"/>
                          <a:sym typeface="Inter"/>
                        </a:rPr>
                        <a:t>P6</a:t>
                      </a:r>
                      <a:endParaRPr b="1" sz="1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Produto 6 – Roadmap de Fortalecimento das Condições Habilitantes para Financiamento Climático Urbano</a:t>
                      </a:r>
                      <a:endParaRPr sz="2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isa_template">
  <a:themeElements>
    <a:clrScheme name="Simple Light">
      <a:dk1>
        <a:srgbClr val="000000"/>
      </a:dk1>
      <a:lt1>
        <a:srgbClr val="F3F3F3"/>
      </a:lt1>
      <a:dk2>
        <a:srgbClr val="595959"/>
      </a:dk2>
      <a:lt2>
        <a:srgbClr val="C5C9B1"/>
      </a:lt2>
      <a:accent1>
        <a:srgbClr val="33DD9A"/>
      </a:accent1>
      <a:accent2>
        <a:srgbClr val="255438"/>
      </a:accent2>
      <a:accent3>
        <a:srgbClr val="7D7A39"/>
      </a:accent3>
      <a:accent4>
        <a:srgbClr val="CADDA2"/>
      </a:accent4>
      <a:accent5>
        <a:srgbClr val="CADDA2"/>
      </a:accent5>
      <a:accent6>
        <a:srgbClr val="ECE798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